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2918400" cy="21945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936" userDrawn="1">
          <p15:clr>
            <a:srgbClr val="A4A3A4"/>
          </p15:clr>
        </p15:guide>
        <p15:guide id="2" pos="103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0025"/>
    <a:srgbClr val="A30F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63E159-7AC7-44AA-81CF-A54A3C797742}" v="40" dt="2024-02-05T21:45:39.7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1" autoAdjust="0"/>
  </p:normalViewPr>
  <p:slideViewPr>
    <p:cSldViewPr snapToGrid="0" showGuides="1">
      <p:cViewPr varScale="1">
        <p:scale>
          <a:sx n="28" d="100"/>
          <a:sy n="28" d="100"/>
        </p:scale>
        <p:origin x="1158" y="96"/>
      </p:cViewPr>
      <p:guideLst>
        <p:guide orient="horz" pos="6936"/>
        <p:guide pos="103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3591562"/>
            <a:ext cx="27980640" cy="7640320"/>
          </a:xfrm>
        </p:spPr>
        <p:txBody>
          <a:bodyPr anchor="b"/>
          <a:lstStyle>
            <a:lvl1pPr algn="ctr">
              <a:defRPr sz="19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11526522"/>
            <a:ext cx="24688800" cy="5298438"/>
          </a:xfrm>
        </p:spPr>
        <p:txBody>
          <a:bodyPr/>
          <a:lstStyle>
            <a:lvl1pPr marL="0" indent="0" algn="ctr">
              <a:buNone/>
              <a:defRPr sz="7680"/>
            </a:lvl1pPr>
            <a:lvl2pPr marL="1463040" indent="0" algn="ctr">
              <a:buNone/>
              <a:defRPr sz="6400"/>
            </a:lvl2pPr>
            <a:lvl3pPr marL="2926080" indent="0" algn="ctr">
              <a:buNone/>
              <a:defRPr sz="5760"/>
            </a:lvl3pPr>
            <a:lvl4pPr marL="4389120" indent="0" algn="ctr">
              <a:buNone/>
              <a:defRPr sz="5120"/>
            </a:lvl4pPr>
            <a:lvl5pPr marL="5852160" indent="0" algn="ctr">
              <a:buNone/>
              <a:defRPr sz="5120"/>
            </a:lvl5pPr>
            <a:lvl6pPr marL="7315200" indent="0" algn="ctr">
              <a:buNone/>
              <a:defRPr sz="5120"/>
            </a:lvl6pPr>
            <a:lvl7pPr marL="8778240" indent="0" algn="ctr">
              <a:buNone/>
              <a:defRPr sz="5120"/>
            </a:lvl7pPr>
            <a:lvl8pPr marL="10241280" indent="0" algn="ctr">
              <a:buNone/>
              <a:defRPr sz="5120"/>
            </a:lvl8pPr>
            <a:lvl9pPr marL="11704320" indent="0" algn="ctr">
              <a:buNone/>
              <a:defRPr sz="51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797B9-8C4A-4EFE-B1B8-09B7A9DA1BA7}" type="datetimeFigureOut">
              <a:rPr lang="en-US" smtClean="0"/>
              <a:t>10/11/2026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E6F3-E91D-44A0-A617-D82B8A38A47D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904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797B9-8C4A-4EFE-B1B8-09B7A9DA1BA7}" type="datetimeFigureOut">
              <a:rPr lang="en-US" smtClean="0"/>
              <a:t>10/11/2026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E6F3-E91D-44A0-A617-D82B8A38A47D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6449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5997" y="5471167"/>
            <a:ext cx="28392120" cy="9128758"/>
          </a:xfrm>
        </p:spPr>
        <p:txBody>
          <a:bodyPr anchor="b"/>
          <a:lstStyle>
            <a:lvl1pPr>
              <a:defRPr sz="19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5997" y="14686287"/>
            <a:ext cx="28392120" cy="4800598"/>
          </a:xfrm>
        </p:spPr>
        <p:txBody>
          <a:bodyPr/>
          <a:lstStyle>
            <a:lvl1pPr marL="0" indent="0">
              <a:buNone/>
              <a:defRPr sz="7680">
                <a:solidFill>
                  <a:schemeClr val="tx1"/>
                </a:solidFill>
              </a:defRPr>
            </a:lvl1pPr>
            <a:lvl2pPr marL="146304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2pPr>
            <a:lvl3pPr marL="292608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3pPr>
            <a:lvl4pPr marL="438912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4pPr>
            <a:lvl5pPr marL="585216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5pPr>
            <a:lvl6pPr marL="731520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6pPr>
            <a:lvl7pPr marL="877824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7pPr>
            <a:lvl8pPr marL="1024128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8pPr>
            <a:lvl9pPr marL="1170432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797B9-8C4A-4EFE-B1B8-09B7A9DA1BA7}" type="datetimeFigureOut">
              <a:rPr lang="en-US" smtClean="0"/>
              <a:t>10/11/2026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E6F3-E91D-44A0-A617-D82B8A38A47D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661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3140" y="5842000"/>
            <a:ext cx="13990320" cy="13924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64940" y="5842000"/>
            <a:ext cx="13990320" cy="13924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797B9-8C4A-4EFE-B1B8-09B7A9DA1BA7}" type="datetimeFigureOut">
              <a:rPr lang="en-US" smtClean="0"/>
              <a:t>10/11/2026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E6F3-E91D-44A0-A617-D82B8A38A47D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5215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168405"/>
            <a:ext cx="28392120" cy="42418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7431" y="5379722"/>
            <a:ext cx="13926024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7431" y="8016240"/>
            <a:ext cx="13926024" cy="11790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664942" y="5379722"/>
            <a:ext cx="13994608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664942" y="8016240"/>
            <a:ext cx="13994608" cy="11790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797B9-8C4A-4EFE-B1B8-09B7A9DA1BA7}" type="datetimeFigureOut">
              <a:rPr lang="en-US" smtClean="0"/>
              <a:t>10/11/2026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E6F3-E91D-44A0-A617-D82B8A38A47D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044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797B9-8C4A-4EFE-B1B8-09B7A9DA1BA7}" type="datetimeFigureOut">
              <a:rPr lang="en-US" smtClean="0"/>
              <a:t>10/11/2026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E6F3-E91D-44A0-A617-D82B8A38A47D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56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797B9-8C4A-4EFE-B1B8-09B7A9DA1BA7}" type="datetimeFigureOut">
              <a:rPr lang="en-US" smtClean="0"/>
              <a:t>10/11/2026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E6F3-E91D-44A0-A617-D82B8A38A47D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16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4608" y="3159765"/>
            <a:ext cx="16664940" cy="15595600"/>
          </a:xfrm>
        </p:spPr>
        <p:txBody>
          <a:bodyPr/>
          <a:lstStyle>
            <a:lvl1pPr>
              <a:defRPr sz="10240"/>
            </a:lvl1pPr>
            <a:lvl2pPr>
              <a:defRPr sz="8960"/>
            </a:lvl2pPr>
            <a:lvl3pPr>
              <a:defRPr sz="7680"/>
            </a:lvl3pPr>
            <a:lvl4pPr>
              <a:defRPr sz="6400"/>
            </a:lvl4pPr>
            <a:lvl5pPr>
              <a:defRPr sz="6400"/>
            </a:lvl5pPr>
            <a:lvl6pPr>
              <a:defRPr sz="6400"/>
            </a:lvl6pPr>
            <a:lvl7pPr>
              <a:defRPr sz="6400"/>
            </a:lvl7pPr>
            <a:lvl8pPr>
              <a:defRPr sz="6400"/>
            </a:lvl8pPr>
            <a:lvl9pPr>
              <a:defRPr sz="6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6583680"/>
            <a:ext cx="10617041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797B9-8C4A-4EFE-B1B8-09B7A9DA1BA7}" type="datetimeFigureOut">
              <a:rPr lang="en-US" smtClean="0"/>
              <a:t>10/11/2026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E6F3-E91D-44A0-A617-D82B8A38A47D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9681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994608" y="3159765"/>
            <a:ext cx="16664940" cy="15595600"/>
          </a:xfrm>
        </p:spPr>
        <p:txBody>
          <a:bodyPr anchor="t"/>
          <a:lstStyle>
            <a:lvl1pPr marL="0" indent="0">
              <a:buNone/>
              <a:defRPr sz="10240"/>
            </a:lvl1pPr>
            <a:lvl2pPr marL="1463040" indent="0">
              <a:buNone/>
              <a:defRPr sz="8960"/>
            </a:lvl2pPr>
            <a:lvl3pPr marL="2926080" indent="0">
              <a:buNone/>
              <a:defRPr sz="7680"/>
            </a:lvl3pPr>
            <a:lvl4pPr marL="4389120" indent="0">
              <a:buNone/>
              <a:defRPr sz="6400"/>
            </a:lvl4pPr>
            <a:lvl5pPr marL="5852160" indent="0">
              <a:buNone/>
              <a:defRPr sz="6400"/>
            </a:lvl5pPr>
            <a:lvl6pPr marL="7315200" indent="0">
              <a:buNone/>
              <a:defRPr sz="6400"/>
            </a:lvl6pPr>
            <a:lvl7pPr marL="8778240" indent="0">
              <a:buNone/>
              <a:defRPr sz="6400"/>
            </a:lvl7pPr>
            <a:lvl8pPr marL="10241280" indent="0">
              <a:buNone/>
              <a:defRPr sz="6400"/>
            </a:lvl8pPr>
            <a:lvl9pPr marL="11704320" indent="0">
              <a:buNone/>
              <a:defRPr sz="64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6583680"/>
            <a:ext cx="10617041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797B9-8C4A-4EFE-B1B8-09B7A9DA1BA7}" type="datetimeFigureOut">
              <a:rPr lang="en-US" smtClean="0"/>
              <a:t>10/11/2026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E6F3-E91D-44A0-A617-D82B8A38A47D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6342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797B9-8C4A-4EFE-B1B8-09B7A9DA1BA7}" type="datetimeFigureOut">
              <a:rPr lang="en-US" smtClean="0"/>
              <a:t>10/11/2026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E6F3-E91D-44A0-A617-D82B8A38A47D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5743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557232" y="1168400"/>
            <a:ext cx="7098030" cy="185978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63142" y="1168400"/>
            <a:ext cx="20882610" cy="185978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797B9-8C4A-4EFE-B1B8-09B7A9DA1BA7}" type="datetimeFigureOut">
              <a:rPr lang="en-US" smtClean="0"/>
              <a:t>10/11/2026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E6F3-E91D-44A0-A617-D82B8A38A47D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758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3140" y="1168405"/>
            <a:ext cx="28392120" cy="4241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140" y="5842000"/>
            <a:ext cx="28392120" cy="13924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797B9-8C4A-4EFE-B1B8-09B7A9DA1BA7}" type="datetimeFigureOut">
              <a:rPr lang="en-US" smtClean="0"/>
              <a:t>10/11/2026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75E6F3-E91D-44A0-A617-D82B8A38A47D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438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926080" rtl="0" eaLnBrk="1" latinLnBrk="0" hangingPunct="1">
        <a:lnSpc>
          <a:spcPct val="90000"/>
        </a:lnSpc>
        <a:spcBef>
          <a:spcPct val="0"/>
        </a:spcBef>
        <a:buNone/>
        <a:defRPr sz="140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31520" indent="-731520" algn="l" defTabSz="2926080" rtl="0" eaLnBrk="1" latinLnBrk="0" hangingPunct="1">
        <a:lnSpc>
          <a:spcPct val="90000"/>
        </a:lnSpc>
        <a:spcBef>
          <a:spcPts val="3200"/>
        </a:spcBef>
        <a:buFont typeface="Arial" panose="020B0604020202020204" pitchFamily="34" charset="0"/>
        <a:buChar char="•"/>
        <a:defRPr sz="896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768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3pPr>
      <a:lvl4pPr marL="51206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804672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95097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9728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24358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1pPr>
      <a:lvl2pPr marL="14630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2pPr>
      <a:lvl3pPr marL="29260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3pPr>
      <a:lvl4pPr marL="43891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585216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731520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87782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2412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17043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F5DE4A-04E9-17F9-2F5E-C53514945B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2918400" cy="4114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FDC04B-352D-F9AF-4CD4-5F6855843034}"/>
              </a:ext>
            </a:extLst>
          </p:cNvPr>
          <p:cNvSpPr txBox="1"/>
          <p:nvPr/>
        </p:nvSpPr>
        <p:spPr>
          <a:xfrm>
            <a:off x="8686800" y="457200"/>
            <a:ext cx="15544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0" noProof="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ResumeLens</a:t>
            </a:r>
            <a:endParaRPr lang="en-US" sz="10000" noProof="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1CB3DE-9114-CC11-98ED-6EFC5F226A27}"/>
              </a:ext>
            </a:extLst>
          </p:cNvPr>
          <p:cNvSpPr txBox="1"/>
          <p:nvPr/>
        </p:nvSpPr>
        <p:spPr>
          <a:xfrm>
            <a:off x="7917873" y="2011680"/>
            <a:ext cx="1708265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noProof="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Santiago Cabal and Nicholas Solis </a:t>
            </a:r>
          </a:p>
          <a:p>
            <a:pPr algn="ctr"/>
            <a:r>
              <a:rPr lang="en-US" sz="6000" noProof="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Icesi</a:t>
            </a:r>
            <a:r>
              <a:rPr lang="en-US" sz="6000" noProof="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University-Barberi Faculty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5CC187-864D-DACA-D50D-A203639626DE}"/>
              </a:ext>
            </a:extLst>
          </p:cNvPr>
          <p:cNvSpPr txBox="1"/>
          <p:nvPr/>
        </p:nvSpPr>
        <p:spPr>
          <a:xfrm>
            <a:off x="914400" y="5715000"/>
            <a:ext cx="8229600" cy="670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Recruiters often review many résumés with different formats and ways of describing skills. </a:t>
            </a:r>
            <a:r>
              <a:rPr lang="en-US" sz="4000" b="1" noProof="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ResumeLens</a:t>
            </a:r>
            <a:r>
              <a:rPr lang="en-US" sz="40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addresses this challenge by using formal language models to process résumé information and evaluate qualifications against professional profiles.</a:t>
            </a:r>
          </a:p>
          <a:p>
            <a:endParaRPr lang="en-US" sz="4000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3000" noProof="0" dirty="0"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F5DCF8-2683-DCDC-A728-9726CAA9680B}"/>
              </a:ext>
            </a:extLst>
          </p:cNvPr>
          <p:cNvSpPr/>
          <p:nvPr/>
        </p:nvSpPr>
        <p:spPr>
          <a:xfrm>
            <a:off x="914398" y="4572000"/>
            <a:ext cx="82296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Introduction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AFCD55-B386-843A-AD7A-D8611CEF0466}"/>
              </a:ext>
            </a:extLst>
          </p:cNvPr>
          <p:cNvSpPr/>
          <p:nvPr/>
        </p:nvSpPr>
        <p:spPr>
          <a:xfrm>
            <a:off x="10058400" y="4550207"/>
            <a:ext cx="128016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Methods</a:t>
            </a:r>
            <a:endParaRPr lang="en-US" sz="4000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CE38D9-CB4F-C8AD-F892-3CD186CCBEE4}"/>
              </a:ext>
            </a:extLst>
          </p:cNvPr>
          <p:cNvSpPr/>
          <p:nvPr/>
        </p:nvSpPr>
        <p:spPr>
          <a:xfrm>
            <a:off x="23774402" y="4572000"/>
            <a:ext cx="82296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Conclusions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C66326E-0B7F-1B5D-2299-4CC92BB37814}"/>
              </a:ext>
            </a:extLst>
          </p:cNvPr>
          <p:cNvSpPr/>
          <p:nvPr/>
        </p:nvSpPr>
        <p:spPr>
          <a:xfrm>
            <a:off x="23774402" y="17602200"/>
            <a:ext cx="82296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References</a:t>
            </a:r>
            <a:endParaRPr lang="en-US" sz="4000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D693D86-5C1E-3C52-7F45-7A24C300E8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1488400"/>
            <a:ext cx="32918400" cy="457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7047B4-67B6-D4D1-3AB0-D62E89828F49}"/>
              </a:ext>
            </a:extLst>
          </p:cNvPr>
          <p:cNvSpPr txBox="1"/>
          <p:nvPr/>
        </p:nvSpPr>
        <p:spPr>
          <a:xfrm>
            <a:off x="23774402" y="5715000"/>
            <a:ext cx="8229600" cy="10402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noProof="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ResumeLens</a:t>
            </a:r>
            <a:r>
              <a:rPr lang="en-US" sz="35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demonstrates how formal language models can work together to support consistent résumé screening. Regular expressions extract information, finite-state transducers normalize skill names, finite automata recognize qualification patterns, and context-free grammars validate candidate profile structures. </a:t>
            </a:r>
          </a:p>
          <a:p>
            <a:r>
              <a:rPr lang="en-US" sz="35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implemented test cases cover skill variations, profile acceptance and rejection, and structural validation. Their execution will determine whether the results support the main hypothesis. </a:t>
            </a:r>
            <a:r>
              <a:rPr lang="en-US" sz="3500" noProof="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ResumeLens</a:t>
            </a:r>
            <a:r>
              <a:rPr lang="en-US" sz="35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provides a structured and reproducible way to check defined qualifications without ranking candidates or making hiring decisions.</a:t>
            </a:r>
          </a:p>
          <a:p>
            <a:endParaRPr lang="en-US" sz="4000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DC53C5-2604-E1FA-1FBB-242C2D0140CE}"/>
              </a:ext>
            </a:extLst>
          </p:cNvPr>
          <p:cNvSpPr txBox="1"/>
          <p:nvPr/>
        </p:nvSpPr>
        <p:spPr>
          <a:xfrm>
            <a:off x="10058399" y="5715000"/>
            <a:ext cx="12801600" cy="14034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noProof="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ResumeLens</a:t>
            </a:r>
            <a:r>
              <a:rPr lang="en-US" sz="36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follows a four-stage pipeline based on formal language theory.</a:t>
            </a:r>
          </a:p>
          <a:p>
            <a:r>
              <a:rPr lang="en-US" sz="3600" b="1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1. Information Extraction</a:t>
            </a:r>
            <a:br>
              <a:rPr lang="en-US" sz="36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36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Regular expressions identify relevant data, including contact details, education, experience, and technical skills.</a:t>
            </a:r>
          </a:p>
          <a:p>
            <a:r>
              <a:rPr lang="en-US" sz="3600" b="1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 Skill Normalization</a:t>
            </a:r>
            <a:br>
              <a:rPr lang="en-US" sz="36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36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Finite-state transducers convert different names and abbreviations into standard labels. For example, “JS” becomes “JAVASCRIPT.”</a:t>
            </a:r>
          </a:p>
          <a:p>
            <a:endParaRPr lang="en-US" sz="3200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3200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3200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3200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3200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3200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3600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3600" b="1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 Profile Recognition</a:t>
            </a:r>
            <a:br>
              <a:rPr lang="en-US" sz="36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36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Deterministic finite automata (DFAs) evaluate the normalized skills against predefined qualification patterns for four profiles: Full Stack Developer, Machine Learning Engineer, Data Engineer, and </a:t>
            </a:r>
            <a:r>
              <a:rPr lang="en-US" sz="3600" noProof="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Devops</a:t>
            </a:r>
            <a:r>
              <a:rPr lang="en-US" sz="36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r>
              <a:rPr lang="en-US" sz="3600" b="1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4. Candidate Profile Validation</a:t>
            </a:r>
            <a:br>
              <a:rPr lang="en-US" sz="36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36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context-free grammar, implemented with </a:t>
            </a:r>
            <a:r>
              <a:rPr lang="en-US" sz="3600" noProof="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textX</a:t>
            </a:r>
            <a:r>
              <a:rPr lang="en-US" sz="36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checks whether the structured candidate profile follows the required syntax. The system then generates a Markdown summary.</a:t>
            </a:r>
          </a:p>
          <a:p>
            <a:endParaRPr lang="en-US" sz="3000" noProof="0" dirty="0"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5AB328-C6DC-D44F-C900-32F5CB0CF2D0}"/>
              </a:ext>
            </a:extLst>
          </p:cNvPr>
          <p:cNvSpPr txBox="1"/>
          <p:nvPr/>
        </p:nvSpPr>
        <p:spPr>
          <a:xfrm>
            <a:off x="23774402" y="18745200"/>
            <a:ext cx="8229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Credits: Oregon State University Library text and University of Southern California Library graphic. 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DB45F1D-239C-0113-2D32-098E1B9DB8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98" y="72313"/>
            <a:ext cx="7841923" cy="3550477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030AC55C-DE94-2C64-9076-3AAC7E0DAA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399" y="10718702"/>
            <a:ext cx="12801599" cy="3583992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F67B3D64-8300-DB67-AF04-C77CB17282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397" y="12301180"/>
            <a:ext cx="8229599" cy="6220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221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306</TotalTime>
  <Words>280</Words>
  <Application>Microsoft Office PowerPoint</Application>
  <PresentationFormat>Personalizado</PresentationFormat>
  <Paragraphs>23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Inter</vt:lpstr>
      <vt:lpstr>Tahoma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Katie Seymour</dc:creator>
  <cp:lastModifiedBy>Santiago Cabal</cp:lastModifiedBy>
  <cp:revision>4</cp:revision>
  <dcterms:created xsi:type="dcterms:W3CDTF">2024-01-26T20:17:19Z</dcterms:created>
  <dcterms:modified xsi:type="dcterms:W3CDTF">2026-10-12T03:03:13Z</dcterms:modified>
</cp:coreProperties>
</file>